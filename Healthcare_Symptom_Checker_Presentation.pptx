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83" r:id="rId2"/>
    <p:sldId id="257" r:id="rId3"/>
    <p:sldId id="282" r:id="rId4"/>
    <p:sldId id="285" r:id="rId5"/>
    <p:sldId id="278" r:id="rId6"/>
    <p:sldId id="262" r:id="rId7"/>
    <p:sldId id="264" r:id="rId8"/>
    <p:sldId id="277" r:id="rId9"/>
    <p:sldId id="286" r:id="rId10"/>
    <p:sldId id="287" r:id="rId11"/>
    <p:sldId id="280" r:id="rId12"/>
    <p:sldId id="290" r:id="rId13"/>
    <p:sldId id="291" r:id="rId14"/>
    <p:sldId id="292" r:id="rId15"/>
    <p:sldId id="294" r:id="rId16"/>
    <p:sldId id="288" r:id="rId17"/>
    <p:sldId id="289" r:id="rId18"/>
    <p:sldId id="276"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A6B9108B-7598-1D50-C4AA-8A38026DAEEF}" v="18" dt="2026-06-19T06:56:18.840"/>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089" autoAdjust="0"/>
    <p:restoredTop sz="94660"/>
  </p:normalViewPr>
  <p:slideViewPr>
    <p:cSldViewPr snapToGrid="0">
      <p:cViewPr>
        <p:scale>
          <a:sx n="75" d="100"/>
          <a:sy n="75" d="100"/>
        </p:scale>
        <p:origin x="1291" y="2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556448676"/>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Sanskruti Dhairyashil </a:t>
                      </a:r>
                    </a:p>
                    <a:p>
                      <a:pPr marL="0" marR="0" lvl="0" indent="0" algn="l" rtl="0">
                        <a:spcBef>
                          <a:spcPts val="0"/>
                        </a:spcBef>
                        <a:spcAft>
                          <a:spcPts val="0"/>
                        </a:spcAft>
                        <a:buNone/>
                      </a:pPr>
                      <a:r>
                        <a:rPr lang="en-US" dirty="0"/>
                        <a:t>Dhumal</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dhumalsanskruti3@gmail.com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9370189648</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Healthcare</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Agentic Ai Healthcare Symptom Checker</a:t>
            </a:r>
            <a:r>
              <a:rPr lang="en-US" sz="2400" dirty="0"/>
              <a:t> </a:t>
            </a:r>
            <a:endParaRPr lang="en-IN" sz="2400" b="1" dirty="0"/>
          </a:p>
        </p:txBody>
      </p:sp>
      <p:pic>
        <p:nvPicPr>
          <p:cNvPr id="3" name="Picture 2">
            <a:extLst>
              <a:ext uri="{FF2B5EF4-FFF2-40B4-BE49-F238E27FC236}">
                <a16:creationId xmlns:a16="http://schemas.microsoft.com/office/drawing/2014/main" id="{3CB4F39B-1B27-47E7-504D-D4A9BEFC97C1}"/>
              </a:ext>
            </a:extLst>
          </p:cNvPr>
          <p:cNvPicPr>
            <a:picLocks noChangeAspect="1"/>
          </p:cNvPicPr>
          <p:nvPr/>
        </p:nvPicPr>
        <p:blipFill>
          <a:blip r:embed="rId3"/>
          <a:stretch>
            <a:fillRect/>
          </a:stretch>
        </p:blipFill>
        <p:spPr>
          <a:xfrm>
            <a:off x="3850640" y="3677919"/>
            <a:ext cx="1391920" cy="94668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447645"/>
          </a:xfrm>
          <a:prstGeom prst="rect">
            <a:avLst/>
          </a:prstGeom>
          <a:noFill/>
        </p:spPr>
        <p:txBody>
          <a:bodyPr wrap="square" rtlCol="0">
            <a:spAutoFit/>
          </a:bodyPr>
          <a:lstStyle/>
          <a:p>
            <a:pPr fontAlgn="base"/>
            <a:r>
              <a:rPr lang="en-US" b="1" dirty="0"/>
              <a:t>Problem Statement : Healthcare Symptom Checker</a:t>
            </a:r>
            <a:r>
              <a:rPr lang="en-US" dirty="0"/>
              <a:t> </a:t>
            </a:r>
          </a:p>
          <a:p>
            <a:pPr fontAlgn="base"/>
            <a:endParaRPr lang="en-US" b="1" dirty="0"/>
          </a:p>
          <a:p>
            <a:pPr fontAlgn="base"/>
            <a:r>
              <a:rPr lang="en-US" sz="2000" b="1" dirty="0"/>
              <a:t>The Challenge</a:t>
            </a:r>
            <a:r>
              <a:rPr lang="en-US" sz="2000" dirty="0"/>
              <a:t> </a:t>
            </a:r>
          </a:p>
          <a:p>
            <a:pPr fontAlgn="base"/>
            <a:r>
              <a:rPr lang="en-US" sz="1800" dirty="0"/>
              <a:t>An Agentic AI Health Symptom Checker helps users understand their health conditions by analyzing symptoms and providing probable causes, preventive advice, and care recommendations. It retrieves verified medical data, symptom databases, and guidelines from trusted sources like WHO, government health portals, and medical journals. The Objective </a:t>
            </a:r>
          </a:p>
          <a:p>
            <a:pPr fontAlgn="base"/>
            <a:r>
              <a:rPr lang="en-US" sz="1800" dirty="0"/>
              <a:t>Build an AI-powered Nutrition Agent that delivers personalized dietary insights and guidance for individuals, families, and health professionals</a:t>
            </a:r>
            <a:r>
              <a:rPr lang="en-US" dirty="0"/>
              <a:t>. </a:t>
            </a:r>
          </a:p>
          <a:p>
            <a:pPr fontAlgn="base"/>
            <a:r>
              <a:rPr lang="en-US" sz="2000" dirty="0"/>
              <a:t>The solution should: </a:t>
            </a:r>
          </a:p>
          <a:p>
            <a:pPr marL="285750" indent="-285750" fontAlgn="base">
              <a:buFont typeface="Arial" panose="020B0604020202020204" pitchFamily="34" charset="0"/>
              <a:buChar char="•"/>
            </a:pPr>
            <a:r>
              <a:rPr lang="en-US" sz="1800" b="1" dirty="0"/>
              <a:t>Personalized Diet Plans</a:t>
            </a:r>
            <a:r>
              <a:rPr lang="en-US" sz="1800" dirty="0"/>
              <a:t> – Recommend meals based on age, health conditions, allergies, cultural preferences, and fitness goals. </a:t>
            </a:r>
          </a:p>
          <a:p>
            <a:pPr marL="285750" indent="-285750" fontAlgn="base">
              <a:buFont typeface="Arial" panose="020B0604020202020204" pitchFamily="34" charset="0"/>
              <a:buChar char="•"/>
            </a:pPr>
            <a:r>
              <a:rPr lang="en-US" sz="1800" b="1" dirty="0"/>
              <a:t>Food Data RAG Retrieval</a:t>
            </a:r>
            <a:r>
              <a:rPr lang="en-US" sz="1800" dirty="0"/>
              <a:t> – Fetch and summarize nutritional values (calories, macros, vitamins) from reliable sources. </a:t>
            </a:r>
          </a:p>
          <a:p>
            <a:pPr marL="285750" indent="-285750" fontAlgn="base">
              <a:buFont typeface="Arial" panose="020B0604020202020204" pitchFamily="34" charset="0"/>
              <a:buChar char="•"/>
            </a:pPr>
            <a:r>
              <a:rPr lang="en-US" sz="1800" b="1" dirty="0"/>
              <a:t>Diet Tracking &amp; Feedback</a:t>
            </a:r>
            <a:r>
              <a:rPr lang="en-US" sz="1800" dirty="0"/>
              <a:t> – Allow users to log meals via text, images, or voice, and provide instant nutritional analysis. </a:t>
            </a:r>
          </a:p>
          <a:p>
            <a:pPr marL="285750" indent="-285750" fontAlgn="base">
              <a:buFont typeface="Arial" panose="020B0604020202020204" pitchFamily="34" charset="0"/>
              <a:buChar char="•"/>
            </a:pPr>
            <a:r>
              <a:rPr lang="en-US" sz="1800" b="1" dirty="0"/>
              <a:t>Preventive Health Focus</a:t>
            </a:r>
            <a:r>
              <a:rPr lang="en-US" sz="1800" dirty="0"/>
              <a:t> – Suggest diets for chronic disease management (e.g., diabetes-friendly or heart-healthy plans.</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185761"/>
          </a:xfrm>
          <a:prstGeom prst="rect">
            <a:avLst/>
          </a:prstGeom>
          <a:noFill/>
        </p:spPr>
        <p:txBody>
          <a:bodyPr wrap="square" rtlCol="0">
            <a:spAutoFit/>
          </a:bodyPr>
          <a:lstStyle/>
          <a:p>
            <a:pPr fontAlgn="base"/>
            <a:endParaRPr lang="en-US" b="1" dirty="0"/>
          </a:p>
          <a:p>
            <a:r>
              <a:rPr lang="en-US" sz="1800" b="1" dirty="0"/>
              <a:t>Proposed Solution: AI-Powered Healthcare Symptom Checker</a:t>
            </a:r>
          </a:p>
          <a:p>
            <a:endParaRPr lang="en-IN" dirty="0"/>
          </a:p>
          <a:p>
            <a:r>
              <a:rPr lang="en-IN" sz="2000" dirty="0"/>
              <a:t>The proposed solution is a </a:t>
            </a:r>
            <a:r>
              <a:rPr lang="en-IN" sz="2000" b="1" dirty="0"/>
              <a:t>full-stack Agentic AI Health Symptom Checker</a:t>
            </a:r>
            <a:r>
              <a:rPr lang="en-IN" sz="2000" dirty="0"/>
              <a:t> — a web-based clinical decision-support tool that autonomously reasons through user-submitted symptoms using a verified medical knowledge base, returns ranked probable conditions, and guides users toward appropriate care — all without storing any personal health data.</a:t>
            </a:r>
          </a:p>
          <a:p>
            <a:endParaRPr lang="en-IN" sz="2000" dirty="0"/>
          </a:p>
          <a:p>
            <a:r>
              <a:rPr lang="en-IN" sz="2000" dirty="0"/>
              <a:t>The </a:t>
            </a:r>
            <a:r>
              <a:rPr lang="en-IN" sz="2000" b="1" dirty="0"/>
              <a:t>Agentic AI Health Symptom Checker</a:t>
            </a:r>
            <a:r>
              <a:rPr lang="en-IN" sz="2000" dirty="0"/>
              <a:t> is a full-stack web application that acts as an intelligent, autonomous health triage assistant. Unlike a simple search engine or static FAQ, it employs a </a:t>
            </a:r>
            <a:r>
              <a:rPr lang="en-IN" sz="2000" b="1" dirty="0"/>
              <a:t>multi-step agentic reasoning pipeline</a:t>
            </a:r>
            <a:r>
              <a:rPr lang="en-IN" sz="2000" dirty="0"/>
              <a:t> — receiving symptoms, autonomously querying a verified medical knowledge base, performing differential analysis, assessing clinical urgency, and delivering ranked probable conditions with evidence-backed care and prevention recommendations.</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786199"/>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medical workflows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medical understanding, clinical reasoning, and analysis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 </a:t>
            </a:r>
            <a:r>
              <a:rPr lang="en-IN" sz="1800" b="1" dirty="0"/>
              <a:t>HTML5</a:t>
            </a:r>
            <a:r>
              <a:rPr lang="en-IN" sz="1800" dirty="0"/>
              <a:t> — Page structure, semantic layout, and inline SVG icons</a:t>
            </a:r>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r>
              <a:rPr lang="en-IN" sz="1800" dirty="0"/>
              <a:t> </a:t>
            </a:r>
            <a:r>
              <a:rPr lang="en-IN" sz="1800" b="1" dirty="0"/>
              <a:t>CSS3</a:t>
            </a:r>
            <a:r>
              <a:rPr lang="en-IN" sz="1800" dirty="0"/>
              <a:t> — Teal/pharma </a:t>
            </a:r>
            <a:r>
              <a:rPr lang="en-IN" sz="1800" dirty="0" err="1"/>
              <a:t>color</a:t>
            </a:r>
            <a:r>
              <a:rPr lang="en-IN" sz="1800" dirty="0"/>
              <a:t> scheme, Grid, Flexbox, animations, and responsive design</a:t>
            </a:r>
          </a:p>
          <a:p>
            <a:r>
              <a:rPr lang="en-US" sz="1800" dirty="0"/>
              <a:t> </a:t>
            </a:r>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medical knowledge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 Healthcare Symptom Checker</a:t>
            </a:r>
            <a:endParaRPr lang="en-US" sz="2400" dirty="0"/>
          </a:p>
        </p:txBody>
      </p:sp>
      <p:pic>
        <p:nvPicPr>
          <p:cNvPr id="7" name="Picture 6">
            <a:extLst>
              <a:ext uri="{FF2B5EF4-FFF2-40B4-BE49-F238E27FC236}">
                <a16:creationId xmlns:a16="http://schemas.microsoft.com/office/drawing/2014/main" id="{C08F8983-3DEF-FD2C-07C3-5B554BFD3DDB}"/>
              </a:ext>
            </a:extLst>
          </p:cNvPr>
          <p:cNvPicPr>
            <a:picLocks noChangeAspect="1"/>
          </p:cNvPicPr>
          <p:nvPr/>
        </p:nvPicPr>
        <p:blipFill>
          <a:blip r:embed="rId3"/>
          <a:stretch>
            <a:fillRect/>
          </a:stretch>
        </p:blipFill>
        <p:spPr>
          <a:xfrm>
            <a:off x="350520" y="1701018"/>
            <a:ext cx="11247120" cy="443132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624840" y="31394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5078313"/>
          </a:xfrm>
          <a:prstGeom prst="rect">
            <a:avLst/>
          </a:prstGeom>
          <a:noFill/>
        </p:spPr>
        <p:txBody>
          <a:bodyPr wrap="square" rtlCol="0">
            <a:spAutoFit/>
          </a:bodyPr>
          <a:lstStyle/>
          <a:p>
            <a:r>
              <a:rPr lang="en-US" sz="1800" b="1" dirty="0"/>
              <a:t>Role of Agentic AI in Healthcare Symptom Checker</a:t>
            </a:r>
          </a:p>
          <a:p>
            <a:r>
              <a:rPr lang="en-US" sz="1800" b="1" dirty="0"/>
              <a:t>Agentic AI</a:t>
            </a:r>
            <a:r>
              <a:rPr lang="en-US" sz="1800" dirty="0"/>
              <a:t> enables the Healthcare Symptom Checker to function as an intelligent, autonomous system rather than a simple chatbot. Using </a:t>
            </a:r>
            <a:r>
              <a:rPr lang="en-US" sz="1800" b="1" dirty="0"/>
              <a:t>IBM watsonx.ai</a:t>
            </a:r>
            <a:r>
              <a:rPr lang="en-US" sz="1800" dirty="0"/>
              <a:t> and </a:t>
            </a:r>
            <a:r>
              <a:rPr lang="en-US" sz="1800" b="1" dirty="0"/>
              <a:t>IBM Granite models</a:t>
            </a:r>
            <a:r>
              <a:rPr lang="en-US" sz="1800" dirty="0"/>
              <a:t>, it coordinates multiple specialized agents to deliver accurate symptom analysis and preliminary diagnosis.</a:t>
            </a:r>
          </a:p>
          <a:p>
            <a:r>
              <a:rPr lang="en-US" sz="1800" dirty="0"/>
              <a:t>Each agent performs a specific role—such as retrieving medical data, analyzing symptoms and providing diagnosis, providing health advice, and analyzing food logs—while working collaboratively. This </a:t>
            </a:r>
            <a:r>
              <a:rPr lang="en-US" sz="1800" b="1" dirty="0"/>
              <a:t>multi-agent approach</a:t>
            </a:r>
            <a:r>
              <a:rPr lang="en-US" sz="1800" dirty="0"/>
              <a:t> ensures efficient task execution and accurate clinical insights.</a:t>
            </a:r>
          </a:p>
          <a:p>
            <a:r>
              <a:rPr lang="en-IN" sz="1800" dirty="0"/>
              <a:t>A standard AI system waits for a question and gives one answer. An </a:t>
            </a:r>
            <a:r>
              <a:rPr lang="en-IN" sz="1800" b="1" dirty="0"/>
              <a:t>Agentic AI</a:t>
            </a:r>
            <a:r>
              <a:rPr lang="en-IN" sz="1800" dirty="0"/>
              <a:t> system autonomously breaks a goal into steps, executes each step in sequence, makes decisions at each stage, and produces a final structured output — without human intervention between steps.</a:t>
            </a:r>
          </a:p>
          <a:p>
            <a:r>
              <a:rPr lang="en-IN" sz="1800" dirty="0" err="1"/>
              <a:t>HealthAI</a:t>
            </a:r>
            <a:r>
              <a:rPr lang="en-IN" sz="1800" dirty="0"/>
              <a:t> does exactly this. When a user clicks </a:t>
            </a:r>
            <a:r>
              <a:rPr lang="en-IN" sz="1800" b="1" dirty="0" err="1"/>
              <a:t>Analyze</a:t>
            </a:r>
            <a:r>
              <a:rPr lang="en-IN" sz="1800" dirty="0"/>
              <a:t>, the agent takes over completely.</a:t>
            </a:r>
          </a:p>
          <a:p>
            <a:r>
              <a:rPr lang="en-US" sz="1800" dirty="0"/>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94FE5262-A8DC-F15C-D170-FAE0047075D6}"/>
              </a:ext>
            </a:extLst>
          </p:cNvPr>
          <p:cNvPicPr>
            <a:picLocks noChangeAspect="1"/>
          </p:cNvPicPr>
          <p:nvPr/>
        </p:nvPicPr>
        <p:blipFill>
          <a:blip r:embed="rId3"/>
          <a:stretch>
            <a:fillRect/>
          </a:stretch>
        </p:blipFill>
        <p:spPr>
          <a:xfrm>
            <a:off x="897392" y="1491916"/>
            <a:ext cx="10620840" cy="4838729"/>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a:t>The proposed Healthcare Symptom Checker stands out by combining </a:t>
            </a:r>
            <a:r>
              <a:rPr lang="en-IN" sz="1800" b="1"/>
              <a:t>Agentic AI, RAG, and personalization</a:t>
            </a:r>
            <a:r>
              <a:rPr lang="en-IN" sz="1800"/>
              <a:t> into a single intelligent system.</a:t>
            </a:r>
          </a:p>
          <a:p>
            <a:endParaRPr lang="en-IN" sz="1800"/>
          </a:p>
          <a:p>
            <a:r>
              <a:rPr lang="en-IN" sz="1800" b="1"/>
              <a:t>Multi-Agent Intelligence</a:t>
            </a:r>
            <a:r>
              <a:rPr lang="en-IN" sz="1800"/>
              <a:t> – Instead of a single chatbot, multiple specialized agents collaborate to deliver accurate and context-aware symptom analysis. </a:t>
            </a:r>
          </a:p>
          <a:p>
            <a:r>
              <a:rPr lang="en-IN" sz="1800" b="1"/>
              <a:t>RAG-Based Accuracy</a:t>
            </a:r>
            <a:r>
              <a:rPr lang="en-IN" sz="1800"/>
              <a:t> – Integrates real-time data retrieval with AI generation, reducing misinformation and ensuring trustworthy recommendations. </a:t>
            </a:r>
          </a:p>
          <a:p>
            <a:r>
              <a:rPr lang="en-IN" sz="1800" b="1"/>
              <a:t>Hyper-Personalization</a:t>
            </a:r>
            <a:r>
              <a:rPr lang="en-IN" sz="1800"/>
              <a:t> – Tailors symptom analysis based on medical history and health conditions. </a:t>
            </a:r>
          </a:p>
          <a:p>
            <a:r>
              <a:rPr lang="en-IN" sz="1800" b="1"/>
              <a:t>Real-Time Feedback Loop</a:t>
            </a:r>
            <a:r>
              <a:rPr lang="en-IN" sz="1800"/>
              <a:t> – Continuously adapts recommendations based on daily food logs and user </a:t>
            </a:r>
            <a:r>
              <a:rPr lang="en-IN" sz="1800" err="1"/>
              <a:t>behavior</a:t>
            </a:r>
            <a:r>
              <a:rPr lang="en-IN" sz="1800"/>
              <a:t>. </a:t>
            </a:r>
          </a:p>
          <a:p>
            <a:r>
              <a:rPr lang="en-IN" sz="1800" b="1"/>
              <a:t>Multi-Modal Input</a:t>
            </a:r>
            <a:r>
              <a:rPr lang="en-IN" sz="1800"/>
              <a:t> – Supports text, voice, and symptom description for better usability. </a:t>
            </a:r>
          </a:p>
          <a:p>
            <a:r>
              <a:rPr lang="en-IN" sz="1800" b="1"/>
              <a:t>Preventive Healthcare Focus</a:t>
            </a:r>
            <a:r>
              <a:rPr lang="en-IN" sz="1800"/>
              <a:t> – Goes beyond basic symptom checking to provide preliminary diagnosis advice. </a:t>
            </a:r>
          </a:p>
          <a:p>
            <a:r>
              <a:rPr lang="en-IN" sz="1800" b="1"/>
              <a:t>Scalable &amp; Enterprise-Ready</a:t>
            </a:r>
            <a:r>
              <a:rPr lang="en-IN" sz="1800"/>
              <a:t> – Built on </a:t>
            </a:r>
            <a:r>
              <a:rPr lang="en-IN" sz="1800" b="1"/>
              <a:t>IBM watsonx.ai</a:t>
            </a:r>
            <a:r>
              <a:rPr lang="en-IN" sz="1800"/>
              <a:t> with </a:t>
            </a:r>
            <a:r>
              <a:rPr lang="en-IN" sz="1800" b="1"/>
              <a:t>IBM Granite models</a:t>
            </a:r>
            <a:r>
              <a:rPr lang="en-IN" sz="1800"/>
              <a:t>, ensuring reliability and governance. </a:t>
            </a:r>
          </a:p>
          <a:p>
            <a:endParaRPr lang="en-IN" sz="1800"/>
          </a:p>
          <a:p>
            <a:r>
              <a:rPr lang="en-IN" sz="1800"/>
              <a:t>This makes the solution a </a:t>
            </a:r>
            <a:r>
              <a:rPr lang="en-IN" sz="1800" b="1"/>
              <a:t>smart, adaptive, and medically-informed health advisor</a:t>
            </a:r>
            <a:r>
              <a:rPr lang="en-IN" sz="1800"/>
              <a:t>, not just a static diet recommendation tool.</a:t>
            </a:r>
            <a:endParaRPr lang="en-US"/>
          </a:p>
          <a:p>
            <a:endParaRPr lang="en-IN"/>
          </a:p>
        </p:txBody>
      </p:sp>
    </p:spTree>
    <p:extLst>
      <p:ext uri="{BB962C8B-B14F-4D97-AF65-F5344CB8AC3E}">
        <p14:creationId xmlns:p14="http://schemas.microsoft.com/office/powerpoint/2010/main" val="917964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275D2FBE-13BC-731D-2624-93CF53CDA3E8}"/>
              </a:ext>
            </a:extLst>
          </p:cNvPr>
          <p:cNvSpPr txBox="1"/>
          <p:nvPr/>
        </p:nvSpPr>
        <p:spPr>
          <a:xfrm>
            <a:off x="1218724" y="1542599"/>
            <a:ext cx="8550918" cy="400110"/>
          </a:xfrm>
          <a:prstGeom prst="rect">
            <a:avLst/>
          </a:prstGeom>
          <a:noFill/>
        </p:spPr>
        <p:txBody>
          <a:bodyPr wrap="square">
            <a:spAutoFit/>
          </a:bodyPr>
          <a:lstStyle/>
          <a:p>
            <a:r>
              <a:rPr lang="en-IN" sz="2000" dirty="0"/>
              <a:t>https://github.com/sanskrutidhumal/Ai-Healthcare-Symptom-Checker</a:t>
            </a:r>
          </a:p>
        </p:txBody>
      </p:sp>
    </p:spTree>
    <p:extLst>
      <p:ext uri="{BB962C8B-B14F-4D97-AF65-F5344CB8AC3E}">
        <p14:creationId xmlns:p14="http://schemas.microsoft.com/office/powerpoint/2010/main" val="2605851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IN" sz="2000" b="1" dirty="0"/>
              <a:t>1. LLM &amp; Natural Language Integration</a:t>
            </a:r>
            <a:endParaRPr lang="en-IN" sz="2000" dirty="0"/>
          </a:p>
          <a:p>
            <a:r>
              <a:rPr lang="en-IN" sz="1800" dirty="0"/>
              <a:t>The current system uses a structured chip-based symptom selector. In the future, IBM </a:t>
            </a:r>
            <a:r>
              <a:rPr lang="en-IN" sz="1800" dirty="0" err="1"/>
              <a:t>watsonx</a:t>
            </a:r>
            <a:r>
              <a:rPr lang="en-IN" sz="1800" dirty="0"/>
              <a:t> or a similar large language model can be integrated to allow users to describe symptoms in plain natural language — for example typing </a:t>
            </a:r>
            <a:r>
              <a:rPr lang="en-IN" sz="1800" i="1" dirty="0"/>
              <a:t>"I have had a throbbing headache on one side with nausea since morning"</a:t>
            </a:r>
            <a:r>
              <a:rPr lang="en-IN" sz="1800" dirty="0"/>
              <a:t> — and the AI will automatically extract, map, and </a:t>
            </a:r>
            <a:r>
              <a:rPr lang="en-IN" sz="1800" dirty="0" err="1"/>
              <a:t>analyze</a:t>
            </a:r>
            <a:r>
              <a:rPr lang="en-IN" sz="1800" dirty="0"/>
              <a:t> the symptoms. This removes the need for users to know medical terminology, making the tool accessible to a far wider global audience including elderly users, low-literacy populations, and non-native speakers.</a:t>
            </a:r>
          </a:p>
          <a:p>
            <a:endParaRPr lang="en-IN" sz="1800" dirty="0"/>
          </a:p>
          <a:p>
            <a:r>
              <a:rPr lang="en-IN" sz="2000" b="1" dirty="0"/>
              <a:t>2. Telehealth &amp; EHR Integration</a:t>
            </a:r>
          </a:p>
          <a:p>
            <a:r>
              <a:rPr lang="en-IN" sz="1800" dirty="0"/>
              <a:t>The system can be extended to connect directly with Electronic Health Record (EHR) systems using the HL7 FHIR standard, allowing the AI-generated assessment to be shared with a patient's registered doctor before an appointment. Combined with a telehealth referral booking feature, users who receive a medium or high urgency result can be immediately connected to a licensed physician for a virtual consultation — closing the loop between AI-driven triage and real clinical care.</a:t>
            </a:r>
          </a:p>
          <a:p>
            <a:br>
              <a:rPr lang="en-IN" sz="1800" dirty="0"/>
            </a:br>
            <a:endParaRPr lang="en-IN" sz="1800" dirty="0"/>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DF0CB-5231-E0D3-1FB3-3EBF8E13836C}"/>
              </a:ext>
            </a:extLst>
          </p:cNvPr>
          <p:cNvSpPr>
            <a:spLocks noGrp="1"/>
          </p:cNvSpPr>
          <p:nvPr>
            <p:ph type="title"/>
          </p:nvPr>
        </p:nvSpPr>
        <p:spPr>
          <a:xfrm>
            <a:off x="721360" y="80645"/>
            <a:ext cx="10515600" cy="1325563"/>
          </a:xfrm>
        </p:spPr>
        <p:txBody>
          <a:bodyPr>
            <a:normAutofit/>
          </a:bodyPr>
          <a:lstStyle/>
          <a:p>
            <a:r>
              <a:rPr lang="en-US" sz="2400" dirty="0"/>
              <a:t>    Project  Code  </a:t>
            </a:r>
            <a:endParaRPr lang="en-IN" sz="2400" dirty="0"/>
          </a:p>
        </p:txBody>
      </p:sp>
      <p:sp>
        <p:nvSpPr>
          <p:cNvPr id="3" name="Text Placeholder 2">
            <a:extLst>
              <a:ext uri="{FF2B5EF4-FFF2-40B4-BE49-F238E27FC236}">
                <a16:creationId xmlns:a16="http://schemas.microsoft.com/office/drawing/2014/main" id="{CF2EF29E-A66F-1A20-F07D-0EE98B647871}"/>
              </a:ext>
            </a:extLst>
          </p:cNvPr>
          <p:cNvSpPr>
            <a:spLocks noGrp="1"/>
          </p:cNvSpPr>
          <p:nvPr>
            <p:ph type="body" idx="1"/>
          </p:nvPr>
        </p:nvSpPr>
        <p:spPr>
          <a:xfrm>
            <a:off x="838200" y="1168400"/>
            <a:ext cx="10515600" cy="5476240"/>
          </a:xfrm>
        </p:spPr>
        <p:txBody>
          <a:bodyPr/>
          <a:lstStyle/>
          <a:p>
            <a:pPr marL="114300" indent="0">
              <a:buNone/>
            </a:pPr>
            <a:r>
              <a:rPr lang="en-US" dirty="0"/>
              <a:t>           h</a:t>
            </a:r>
            <a:endParaRPr lang="en-IN" dirty="0"/>
          </a:p>
        </p:txBody>
      </p:sp>
      <p:pic>
        <p:nvPicPr>
          <p:cNvPr id="5" name="Picture 4">
            <a:extLst>
              <a:ext uri="{FF2B5EF4-FFF2-40B4-BE49-F238E27FC236}">
                <a16:creationId xmlns:a16="http://schemas.microsoft.com/office/drawing/2014/main" id="{CA109329-89FE-9640-84BD-808D91D2232C}"/>
              </a:ext>
            </a:extLst>
          </p:cNvPr>
          <p:cNvPicPr>
            <a:picLocks noChangeAspect="1"/>
          </p:cNvPicPr>
          <p:nvPr/>
        </p:nvPicPr>
        <p:blipFill>
          <a:blip r:embed="rId2"/>
          <a:stretch>
            <a:fillRect/>
          </a:stretch>
        </p:blipFill>
        <p:spPr>
          <a:xfrm>
            <a:off x="1717040" y="4185920"/>
            <a:ext cx="8524240" cy="245872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A517BF14-F4D5-24FA-A620-5AC9BEB74421}"/>
              </a:ext>
            </a:extLst>
          </p:cNvPr>
          <p:cNvPicPr>
            <a:picLocks noChangeAspect="1"/>
          </p:cNvPicPr>
          <p:nvPr/>
        </p:nvPicPr>
        <p:blipFill>
          <a:blip r:embed="rId3"/>
          <a:stretch>
            <a:fillRect/>
          </a:stretch>
        </p:blipFill>
        <p:spPr>
          <a:xfrm>
            <a:off x="1717040" y="1168401"/>
            <a:ext cx="8524240" cy="271272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4003927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772F7-8B19-A4E3-BF7B-37A4350AD3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96E84B-74FE-0819-B409-D143E5F39501}"/>
              </a:ext>
            </a:extLst>
          </p:cNvPr>
          <p:cNvSpPr>
            <a:spLocks noGrp="1"/>
          </p:cNvSpPr>
          <p:nvPr>
            <p:ph type="title"/>
          </p:nvPr>
        </p:nvSpPr>
        <p:spPr>
          <a:xfrm>
            <a:off x="838200" y="121285"/>
            <a:ext cx="10515600" cy="1325563"/>
          </a:xfrm>
        </p:spPr>
        <p:txBody>
          <a:bodyPr>
            <a:normAutofit/>
          </a:bodyPr>
          <a:lstStyle/>
          <a:p>
            <a:r>
              <a:rPr lang="en-US" sz="2400" dirty="0"/>
              <a:t>  Project Code  </a:t>
            </a:r>
            <a:endParaRPr lang="en-IN" sz="2400" dirty="0"/>
          </a:p>
        </p:txBody>
      </p:sp>
      <p:sp>
        <p:nvSpPr>
          <p:cNvPr id="3" name="Text Placeholder 2">
            <a:extLst>
              <a:ext uri="{FF2B5EF4-FFF2-40B4-BE49-F238E27FC236}">
                <a16:creationId xmlns:a16="http://schemas.microsoft.com/office/drawing/2014/main" id="{69E41D3A-D2F8-DA54-944E-48D646AC2DD7}"/>
              </a:ext>
            </a:extLst>
          </p:cNvPr>
          <p:cNvSpPr>
            <a:spLocks noGrp="1"/>
          </p:cNvSpPr>
          <p:nvPr>
            <p:ph type="body" idx="1"/>
          </p:nvPr>
        </p:nvSpPr>
        <p:spPr>
          <a:xfrm>
            <a:off x="838200" y="1446848"/>
            <a:ext cx="10515600" cy="5289867"/>
          </a:xfrm>
        </p:spPr>
        <p:txBody>
          <a:bodyPr/>
          <a:lstStyle/>
          <a:p>
            <a:pPr marL="114300" indent="0">
              <a:buNone/>
            </a:pPr>
            <a:r>
              <a:rPr lang="en-US" dirty="0"/>
              <a:t>             h</a:t>
            </a:r>
            <a:endParaRPr lang="en-IN" dirty="0"/>
          </a:p>
        </p:txBody>
      </p:sp>
      <p:pic>
        <p:nvPicPr>
          <p:cNvPr id="5" name="Picture 4">
            <a:extLst>
              <a:ext uri="{FF2B5EF4-FFF2-40B4-BE49-F238E27FC236}">
                <a16:creationId xmlns:a16="http://schemas.microsoft.com/office/drawing/2014/main" id="{B6D7D2AD-75A1-3488-33B0-0818839EF78D}"/>
              </a:ext>
            </a:extLst>
          </p:cNvPr>
          <p:cNvPicPr>
            <a:picLocks noChangeAspect="1"/>
          </p:cNvPicPr>
          <p:nvPr/>
        </p:nvPicPr>
        <p:blipFill>
          <a:blip r:embed="rId2"/>
          <a:stretch>
            <a:fillRect/>
          </a:stretch>
        </p:blipFill>
        <p:spPr>
          <a:xfrm>
            <a:off x="2082800" y="4201955"/>
            <a:ext cx="8209280" cy="25347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5443CF60-92CD-F795-BDD4-1F20728678F5}"/>
              </a:ext>
            </a:extLst>
          </p:cNvPr>
          <p:cNvPicPr>
            <a:picLocks noChangeAspect="1"/>
          </p:cNvPicPr>
          <p:nvPr/>
        </p:nvPicPr>
        <p:blipFill>
          <a:blip r:embed="rId3"/>
          <a:stretch>
            <a:fillRect/>
          </a:stretch>
        </p:blipFill>
        <p:spPr>
          <a:xfrm>
            <a:off x="2042160" y="1446848"/>
            <a:ext cx="8209280" cy="26206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1685454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CD619-A8E6-0DAD-68EB-3E0E45F843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DADBF4-9F8E-9010-623A-2AC952F4878D}"/>
              </a:ext>
            </a:extLst>
          </p:cNvPr>
          <p:cNvSpPr>
            <a:spLocks noGrp="1"/>
          </p:cNvSpPr>
          <p:nvPr>
            <p:ph type="title"/>
          </p:nvPr>
        </p:nvSpPr>
        <p:spPr>
          <a:xfrm>
            <a:off x="767080" y="90805"/>
            <a:ext cx="10515600" cy="1325563"/>
          </a:xfrm>
        </p:spPr>
        <p:txBody>
          <a:bodyPr>
            <a:normAutofit/>
          </a:bodyPr>
          <a:lstStyle/>
          <a:p>
            <a:r>
              <a:rPr lang="en-US" sz="2400" dirty="0"/>
              <a:t>Project Webpage</a:t>
            </a:r>
            <a:endParaRPr lang="en-IN" sz="2400" dirty="0"/>
          </a:p>
        </p:txBody>
      </p:sp>
      <p:sp>
        <p:nvSpPr>
          <p:cNvPr id="3" name="Text Placeholder 2">
            <a:extLst>
              <a:ext uri="{FF2B5EF4-FFF2-40B4-BE49-F238E27FC236}">
                <a16:creationId xmlns:a16="http://schemas.microsoft.com/office/drawing/2014/main" id="{7EFB3834-C6D4-CE4B-02D1-AEEB8AD4730C}"/>
              </a:ext>
            </a:extLst>
          </p:cNvPr>
          <p:cNvSpPr>
            <a:spLocks noGrp="1"/>
          </p:cNvSpPr>
          <p:nvPr>
            <p:ph type="body" idx="1"/>
          </p:nvPr>
        </p:nvSpPr>
        <p:spPr>
          <a:xfrm>
            <a:off x="838200" y="1270000"/>
            <a:ext cx="10515600" cy="5354320"/>
          </a:xfrm>
        </p:spPr>
        <p:txBody>
          <a:bodyPr/>
          <a:lstStyle/>
          <a:p>
            <a:pPr marL="114300" indent="0">
              <a:buNone/>
            </a:pPr>
            <a:r>
              <a:rPr lang="en-US" dirty="0"/>
              <a:t>      h</a:t>
            </a:r>
            <a:endParaRPr lang="en-IN" dirty="0"/>
          </a:p>
        </p:txBody>
      </p:sp>
      <p:pic>
        <p:nvPicPr>
          <p:cNvPr id="5" name="Picture 4">
            <a:extLst>
              <a:ext uri="{FF2B5EF4-FFF2-40B4-BE49-F238E27FC236}">
                <a16:creationId xmlns:a16="http://schemas.microsoft.com/office/drawing/2014/main" id="{7D930DF4-1069-A6F8-6CD0-8D61A2127640}"/>
              </a:ext>
            </a:extLst>
          </p:cNvPr>
          <p:cNvPicPr>
            <a:picLocks noChangeAspect="1"/>
          </p:cNvPicPr>
          <p:nvPr/>
        </p:nvPicPr>
        <p:blipFill>
          <a:blip r:embed="rId2"/>
          <a:stretch>
            <a:fillRect/>
          </a:stretch>
        </p:blipFill>
        <p:spPr>
          <a:xfrm>
            <a:off x="1503680" y="4023360"/>
            <a:ext cx="9184640" cy="26009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E49F9F27-038F-2782-53F9-88268201B5E6}"/>
              </a:ext>
            </a:extLst>
          </p:cNvPr>
          <p:cNvPicPr>
            <a:picLocks noChangeAspect="1"/>
          </p:cNvPicPr>
          <p:nvPr/>
        </p:nvPicPr>
        <p:blipFill>
          <a:blip r:embed="rId3"/>
          <a:stretch>
            <a:fillRect/>
          </a:stretch>
        </p:blipFill>
        <p:spPr>
          <a:xfrm>
            <a:off x="1432560" y="1270000"/>
            <a:ext cx="9184640" cy="2438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0692063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8C77-A03C-9FE4-E44D-B595412ED1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808563-5868-1F30-E8D0-C4405C319CF5}"/>
              </a:ext>
            </a:extLst>
          </p:cNvPr>
          <p:cNvSpPr>
            <a:spLocks noGrp="1"/>
          </p:cNvSpPr>
          <p:nvPr>
            <p:ph type="title"/>
          </p:nvPr>
        </p:nvSpPr>
        <p:spPr>
          <a:xfrm>
            <a:off x="767080" y="90805"/>
            <a:ext cx="10515600" cy="1325563"/>
          </a:xfrm>
        </p:spPr>
        <p:txBody>
          <a:bodyPr>
            <a:normAutofit/>
          </a:bodyPr>
          <a:lstStyle/>
          <a:p>
            <a:r>
              <a:rPr lang="en-US" sz="2400" dirty="0"/>
              <a:t>Project Webpage</a:t>
            </a:r>
            <a:endParaRPr lang="en-IN" sz="2400" dirty="0"/>
          </a:p>
        </p:txBody>
      </p:sp>
      <p:sp>
        <p:nvSpPr>
          <p:cNvPr id="3" name="Text Placeholder 2">
            <a:extLst>
              <a:ext uri="{FF2B5EF4-FFF2-40B4-BE49-F238E27FC236}">
                <a16:creationId xmlns:a16="http://schemas.microsoft.com/office/drawing/2014/main" id="{19A6DF64-CA8D-0B3C-C119-EDE06A8C725A}"/>
              </a:ext>
            </a:extLst>
          </p:cNvPr>
          <p:cNvSpPr>
            <a:spLocks noGrp="1"/>
          </p:cNvSpPr>
          <p:nvPr>
            <p:ph type="body" idx="1"/>
          </p:nvPr>
        </p:nvSpPr>
        <p:spPr>
          <a:xfrm>
            <a:off x="838200" y="1270000"/>
            <a:ext cx="10515600" cy="5354320"/>
          </a:xfrm>
        </p:spPr>
        <p:txBody>
          <a:bodyPr/>
          <a:lstStyle/>
          <a:p>
            <a:pPr marL="114300" indent="0">
              <a:buNone/>
            </a:pPr>
            <a:r>
              <a:rPr lang="en-US" dirty="0"/>
              <a:t>      h</a:t>
            </a:r>
            <a:endParaRPr lang="en-IN" dirty="0"/>
          </a:p>
        </p:txBody>
      </p:sp>
      <p:pic>
        <p:nvPicPr>
          <p:cNvPr id="6" name="Picture 5">
            <a:extLst>
              <a:ext uri="{FF2B5EF4-FFF2-40B4-BE49-F238E27FC236}">
                <a16:creationId xmlns:a16="http://schemas.microsoft.com/office/drawing/2014/main" id="{0FBE2787-437B-41AE-7490-0946E0226DB9}"/>
              </a:ext>
            </a:extLst>
          </p:cNvPr>
          <p:cNvPicPr>
            <a:picLocks noChangeAspect="1"/>
          </p:cNvPicPr>
          <p:nvPr/>
        </p:nvPicPr>
        <p:blipFill>
          <a:blip r:embed="rId2"/>
          <a:stretch>
            <a:fillRect/>
          </a:stretch>
        </p:blipFill>
        <p:spPr>
          <a:xfrm>
            <a:off x="1402080" y="1270000"/>
            <a:ext cx="9083040" cy="4826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3148604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5" name="Picture 4">
            <a:extLst>
              <a:ext uri="{FF2B5EF4-FFF2-40B4-BE49-F238E27FC236}">
                <a16:creationId xmlns:a16="http://schemas.microsoft.com/office/drawing/2014/main" id="{94BAAB23-5404-815A-E96C-57C709E4B030}"/>
              </a:ext>
            </a:extLst>
          </p:cNvPr>
          <p:cNvPicPr>
            <a:picLocks noChangeAspect="1"/>
          </p:cNvPicPr>
          <p:nvPr/>
        </p:nvPicPr>
        <p:blipFill>
          <a:blip r:embed="rId2"/>
          <a:stretch>
            <a:fillRect/>
          </a:stretch>
        </p:blipFill>
        <p:spPr>
          <a:xfrm>
            <a:off x="750106" y="1367169"/>
            <a:ext cx="10691787" cy="5308232"/>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 IBM BOB Certificate</a:t>
            </a:r>
          </a:p>
        </p:txBody>
      </p:sp>
      <p:pic>
        <p:nvPicPr>
          <p:cNvPr id="3" name="Picture 2">
            <a:extLst>
              <a:ext uri="{FF2B5EF4-FFF2-40B4-BE49-F238E27FC236}">
                <a16:creationId xmlns:a16="http://schemas.microsoft.com/office/drawing/2014/main" id="{D608AE40-0B1C-EDEA-5F2D-01DA72A7DBE3}"/>
              </a:ext>
            </a:extLst>
          </p:cNvPr>
          <p:cNvPicPr>
            <a:picLocks noChangeAspect="1"/>
          </p:cNvPicPr>
          <p:nvPr/>
        </p:nvPicPr>
        <p:blipFill>
          <a:blip r:embed="rId2"/>
          <a:stretch>
            <a:fillRect/>
          </a:stretch>
        </p:blipFill>
        <p:spPr>
          <a:xfrm>
            <a:off x="742486" y="1200580"/>
            <a:ext cx="10707028" cy="5451959"/>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TotalTime>
  <Words>1075</Words>
  <Application>Microsoft Office PowerPoint</Application>
  <PresentationFormat>Widescreen</PresentationFormat>
  <Paragraphs>98</Paragraphs>
  <Slides>18</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Project  Code  </vt:lpstr>
      <vt:lpstr>  Project Code  </vt:lpstr>
      <vt:lpstr>Project Webpage</vt:lpstr>
      <vt:lpstr>Project Webpage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Dipti Shilimkar</cp:lastModifiedBy>
  <cp:revision>16</cp:revision>
  <dcterms:created xsi:type="dcterms:W3CDTF">2025-07-08T05:06:56Z</dcterms:created>
  <dcterms:modified xsi:type="dcterms:W3CDTF">2026-09-11T12:20:43Z</dcterms:modified>
</cp:coreProperties>
</file>